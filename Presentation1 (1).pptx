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EBC86F81-6922-488B-ABAE-FC55A9BABE2E}"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34081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spTree>
    <p:extLst>
      <p:ext uri="{BB962C8B-B14F-4D97-AF65-F5344CB8AC3E}">
        <p14:creationId xmlns:p14="http://schemas.microsoft.com/office/powerpoint/2010/main" val="1964674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1473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007ADCC-89DE-45C9-9BF0-E3059902C03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C86F81-6922-488B-ABAE-FC55A9BABE2E}" type="slidenum">
              <a:rPr lang="en-US" smtClean="0"/>
              <a:t>‹#›</a:t>
            </a:fld>
            <a:endParaRPr lang="en-US"/>
          </a:p>
        </p:txBody>
      </p:sp>
    </p:spTree>
    <p:extLst>
      <p:ext uri="{BB962C8B-B14F-4D97-AF65-F5344CB8AC3E}">
        <p14:creationId xmlns:p14="http://schemas.microsoft.com/office/powerpoint/2010/main" val="444212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007ADCC-89DE-45C9-9BF0-E3059902C034}"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C86F81-6922-488B-ABAE-FC55A9BABE2E}"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65456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007ADCC-89DE-45C9-9BF0-E3059902C034}"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C86F81-6922-488B-ABAE-FC55A9BABE2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878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7ADCC-89DE-45C9-9BF0-E3059902C034}"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C86F81-6922-488B-ABAE-FC55A9BABE2E}" type="slidenum">
              <a:rPr lang="en-US" smtClean="0"/>
              <a:t>‹#›</a:t>
            </a:fld>
            <a:endParaRPr lang="en-US"/>
          </a:p>
        </p:txBody>
      </p:sp>
    </p:spTree>
    <p:extLst>
      <p:ext uri="{BB962C8B-B14F-4D97-AF65-F5344CB8AC3E}">
        <p14:creationId xmlns:p14="http://schemas.microsoft.com/office/powerpoint/2010/main" val="2844127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007ADCC-89DE-45C9-9BF0-E3059902C03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C86F81-6922-488B-ABAE-FC55A9BABE2E}"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9350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007ADCC-89DE-45C9-9BF0-E3059902C03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C86F81-6922-488B-ABAE-FC55A9BABE2E}" type="slidenum">
              <a:rPr lang="en-US" smtClean="0"/>
              <a:t>‹#›</a:t>
            </a:fld>
            <a:endParaRPr lang="en-US"/>
          </a:p>
        </p:txBody>
      </p:sp>
    </p:spTree>
    <p:extLst>
      <p:ext uri="{BB962C8B-B14F-4D97-AF65-F5344CB8AC3E}">
        <p14:creationId xmlns:p14="http://schemas.microsoft.com/office/powerpoint/2010/main" val="1030876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007ADCC-89DE-45C9-9BF0-E3059902C034}"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C86F81-6922-488B-ABAE-FC55A9BABE2E}" type="slidenum">
              <a:rPr lang="en-US" smtClean="0"/>
              <a:t>‹#›</a:t>
            </a:fld>
            <a:endParaRPr lang="en-US"/>
          </a:p>
        </p:txBody>
      </p:sp>
    </p:spTree>
    <p:extLst>
      <p:ext uri="{BB962C8B-B14F-4D97-AF65-F5344CB8AC3E}">
        <p14:creationId xmlns:p14="http://schemas.microsoft.com/office/powerpoint/2010/main" val="1334226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66633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8586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spTree>
    <p:extLst>
      <p:ext uri="{BB962C8B-B14F-4D97-AF65-F5344CB8AC3E}">
        <p14:creationId xmlns:p14="http://schemas.microsoft.com/office/powerpoint/2010/main" val="27256495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08808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45826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8660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007ADCC-89DE-45C9-9BF0-E3059902C03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C86F81-6922-488B-ABAE-FC55A9BABE2E}"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1004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007ADCC-89DE-45C9-9BF0-E3059902C034}" type="datetimeFigureOut">
              <a:rPr lang="en-US" smtClean="0"/>
              <a:t>3/25/2026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BC86F81-6922-488B-ABAE-FC55A9BABE2E}" type="slidenum">
              <a:rPr lang="en-US" smtClean="0"/>
              <a:t>‹#›</a:t>
            </a:fld>
            <a:endParaRPr lang="en-US"/>
          </a:p>
        </p:txBody>
      </p:sp>
    </p:spTree>
    <p:extLst>
      <p:ext uri="{BB962C8B-B14F-4D97-AF65-F5344CB8AC3E}">
        <p14:creationId xmlns:p14="http://schemas.microsoft.com/office/powerpoint/2010/main" val="40224725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Election Data Visualization for Media</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6689719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1" y="659422"/>
            <a:ext cx="7007470" cy="5355312"/>
          </a:xfrm>
          <a:prstGeom prst="rect">
            <a:avLst/>
          </a:prstGeom>
        </p:spPr>
        <p:txBody>
          <a:bodyPr wrap="square">
            <a:spAutoFit/>
          </a:bodyPr>
          <a:lstStyle/>
          <a:p>
            <a:r>
              <a:rPr lang="en-US" b="1" dirty="0" smtClean="0"/>
              <a:t>The Challenge</a:t>
            </a:r>
            <a:br>
              <a:rPr lang="en-US" b="1" dirty="0" smtClean="0"/>
            </a:br>
            <a:endParaRPr lang="en-US" b="1" dirty="0" smtClean="0"/>
          </a:p>
          <a:p>
            <a:r>
              <a:rPr lang="en-US" dirty="0" smtClean="0"/>
              <a:t>Elections generate massive amounts of raw data—from voter turnout and party performance to complex demographic shifts. For media organizations, the challenge lies in processing this "noise" quickly and accurately so the public can understand the results in real-time.</a:t>
            </a:r>
            <a:br>
              <a:rPr lang="en-US" dirty="0" smtClean="0"/>
            </a:br>
            <a:endParaRPr lang="en-US" dirty="0" smtClean="0"/>
          </a:p>
          <a:p>
            <a:r>
              <a:rPr lang="en-US" b="1" dirty="0" smtClean="0"/>
              <a:t>The Solution</a:t>
            </a:r>
            <a:br>
              <a:rPr lang="en-US" b="1" dirty="0" smtClean="0"/>
            </a:br>
            <a:endParaRPr lang="en-US" b="1" dirty="0" smtClean="0"/>
          </a:p>
          <a:p>
            <a:r>
              <a:rPr lang="en-US" dirty="0" smtClean="0"/>
              <a:t>This project provides a robust framework that transforms complex electoral datasets into </a:t>
            </a:r>
            <a:r>
              <a:rPr lang="en-US" b="1" dirty="0" smtClean="0"/>
              <a:t>actionable visual intelligence</a:t>
            </a:r>
            <a:r>
              <a:rPr lang="en-US" dirty="0" smtClean="0"/>
              <a:t>. Using a technical stack centered on </a:t>
            </a:r>
            <a:r>
              <a:rPr lang="en-US" b="1" dirty="0" smtClean="0"/>
              <a:t>Power BI</a:t>
            </a:r>
            <a:r>
              <a:rPr lang="en-US" dirty="0" smtClean="0"/>
              <a:t> and interactive web technologies, the system:</a:t>
            </a:r>
          </a:p>
          <a:p>
            <a:pPr>
              <a:buFont typeface="Arial" panose="020B0604020202020204" pitchFamily="34" charset="0"/>
              <a:buChar char="•"/>
            </a:pPr>
            <a:r>
              <a:rPr lang="en-US" b="1" dirty="0" smtClean="0"/>
              <a:t>Organizes</a:t>
            </a:r>
            <a:r>
              <a:rPr lang="en-US" dirty="0" smtClean="0"/>
              <a:t> diverse data inputs, including candidate statistics and gender-wise voter demographics.</a:t>
            </a:r>
          </a:p>
          <a:p>
            <a:pPr>
              <a:buFont typeface="Arial" panose="020B0604020202020204" pitchFamily="34" charset="0"/>
              <a:buChar char="•"/>
            </a:pPr>
            <a:r>
              <a:rPr lang="en-US" b="1" dirty="0" smtClean="0"/>
              <a:t>Visualizes</a:t>
            </a:r>
            <a:r>
              <a:rPr lang="en-US" dirty="0" smtClean="0"/>
              <a:t> trends through dynamic dashboards, comparative charts, and longitudinal (historical) analysis.</a:t>
            </a:r>
          </a:p>
          <a:p>
            <a:pPr>
              <a:buFont typeface="Arial" panose="020B0604020202020204" pitchFamily="34" charset="0"/>
              <a:buChar char="•"/>
            </a:pPr>
            <a:r>
              <a:rPr lang="en-US" b="1" dirty="0" smtClean="0"/>
              <a:t>Simplifies</a:t>
            </a:r>
            <a:r>
              <a:rPr lang="en-US" dirty="0" smtClean="0"/>
              <a:t> winning margins and party swings into clear, interactive visual stories.</a:t>
            </a:r>
          </a:p>
        </p:txBody>
      </p:sp>
    </p:spTree>
    <p:extLst>
      <p:ext uri="{BB962C8B-B14F-4D97-AF65-F5344CB8AC3E}">
        <p14:creationId xmlns:p14="http://schemas.microsoft.com/office/powerpoint/2010/main" val="653987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590800" y="1331202"/>
            <a:ext cx="6096000" cy="2947089"/>
          </a:xfrm>
          <a:prstGeom prst="rect">
            <a:avLst/>
          </a:prstGeom>
        </p:spPr>
        <p:txBody>
          <a:bodyPr>
            <a:spAutoFit/>
          </a:bodyPr>
          <a:lstStyle/>
          <a:p>
            <a:pPr marR="0" lvl="0">
              <a:lnSpc>
                <a:spcPct val="107000"/>
              </a:lnSpc>
              <a:spcBef>
                <a:spcPts val="0"/>
              </a:spcBef>
              <a:spcAft>
                <a:spcPts val="800"/>
              </a:spcAft>
            </a:pPr>
            <a:r>
              <a:rPr lang="en-IN" sz="2800" b="1" kern="100" dirty="0" smtClean="0">
                <a:effectLst/>
                <a:latin typeface="Calibri" panose="020F0502020204030204" pitchFamily="34" charset="0"/>
                <a:ea typeface="Calibri" panose="020F0502020204030204" pitchFamily="34" charset="0"/>
                <a:cs typeface="Times New Roman" panose="02020603050405020304" pitchFamily="18" charset="0"/>
              </a:rPr>
              <a:t>              Objectives</a:t>
            </a:r>
            <a:endParaRPr lang="en-US" sz="14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The objective for the project is as follows:</a:t>
            </a:r>
            <a:endParaRPr lang="en-US" sz="14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1 To collect and organize the election related data</a:t>
            </a:r>
            <a:endParaRPr lang="en-US" sz="14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2 To visualize election statistics using charts and graphs.</a:t>
            </a:r>
            <a:endParaRPr lang="en-US" sz="14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3 To </a:t>
            </a:r>
            <a:r>
              <a:rPr lang="en-IN" kern="100" dirty="0" err="1">
                <a:latin typeface="Calibri" panose="020F0502020204030204" pitchFamily="34" charset="0"/>
                <a:ea typeface="Calibri" panose="020F0502020204030204" pitchFamily="34" charset="0"/>
                <a:cs typeface="Times New Roman" panose="02020603050405020304" pitchFamily="18" charset="0"/>
              </a:rPr>
              <a:t>analyze</a:t>
            </a:r>
            <a:r>
              <a:rPr lang="en-IN" kern="100" dirty="0">
                <a:latin typeface="Calibri" panose="020F0502020204030204" pitchFamily="34" charset="0"/>
                <a:ea typeface="Calibri" panose="020F0502020204030204" pitchFamily="34" charset="0"/>
                <a:cs typeface="Times New Roman" panose="02020603050405020304" pitchFamily="18" charset="0"/>
              </a:rPr>
              <a:t> voter turnout and demographic patterns.</a:t>
            </a:r>
            <a:endParaRPr lang="en-US" sz="14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4 To display party and candidate performance.</a:t>
            </a:r>
            <a:endParaRPr lang="en-US" sz="14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marL="457200" marR="0">
              <a:lnSpc>
                <a:spcPct val="107000"/>
              </a:lnSpc>
              <a:spcBef>
                <a:spcPts val="0"/>
              </a:spcBef>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5 To help media present election data clearly.</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681537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427" y="883986"/>
            <a:ext cx="10058400" cy="5302833"/>
          </a:xfrm>
          <a:prstGeom prst="rect">
            <a:avLst/>
          </a:prstGeom>
        </p:spPr>
      </p:pic>
    </p:spTree>
    <p:extLst>
      <p:ext uri="{BB962C8B-B14F-4D97-AF65-F5344CB8AC3E}">
        <p14:creationId xmlns:p14="http://schemas.microsoft.com/office/powerpoint/2010/main" val="40854769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64931" y="589086"/>
            <a:ext cx="8379069" cy="1508105"/>
          </a:xfrm>
          <a:prstGeom prst="rect">
            <a:avLst/>
          </a:prstGeom>
        </p:spPr>
        <p:txBody>
          <a:bodyPr wrap="square">
            <a:spAutoFit/>
          </a:bodyPr>
          <a:lstStyle/>
          <a:p>
            <a:r>
              <a:rPr lang="en-IN" b="1" dirty="0" err="1" smtClean="0"/>
              <a:t>DataSet</a:t>
            </a:r>
            <a:r>
              <a:rPr lang="en-IN" b="1" dirty="0" smtClean="0"/>
              <a:t> </a:t>
            </a:r>
            <a:r>
              <a:rPr lang="en-IN" b="1" dirty="0"/>
              <a:t>Description</a:t>
            </a:r>
            <a:r>
              <a:rPr lang="en-IN" dirty="0" smtClean="0">
                <a:latin typeface="Calibri" panose="020F0502020204030204" pitchFamily="34" charset="0"/>
                <a:ea typeface="Calibri" panose="020F0502020204030204" pitchFamily="34" charset="0"/>
                <a:cs typeface="Times New Roman" panose="02020603050405020304" pitchFamily="18" charset="0"/>
              </a:rPr>
              <a:t/>
            </a:r>
            <a:br>
              <a:rPr lang="en-IN" dirty="0" smtClean="0">
                <a:latin typeface="Calibri" panose="020F0502020204030204" pitchFamily="34" charset="0"/>
                <a:ea typeface="Calibri" panose="020F0502020204030204" pitchFamily="34" charset="0"/>
                <a:cs typeface="Times New Roman" panose="02020603050405020304" pitchFamily="18" charset="0"/>
              </a:rPr>
            </a:br>
            <a:r>
              <a:rPr lang="en-IN" dirty="0" smtClean="0">
                <a:latin typeface="Calibri" panose="020F0502020204030204" pitchFamily="34" charset="0"/>
                <a:ea typeface="Calibri" panose="020F0502020204030204" pitchFamily="34" charset="0"/>
                <a:cs typeface="Times New Roman" panose="02020603050405020304" pitchFamily="18" charset="0"/>
              </a:rPr>
              <a:t/>
            </a:r>
            <a:br>
              <a:rPr lang="en-IN" dirty="0" smtClean="0">
                <a:latin typeface="Calibri" panose="020F0502020204030204" pitchFamily="34" charset="0"/>
                <a:ea typeface="Calibri" panose="020F0502020204030204" pitchFamily="34" charset="0"/>
                <a:cs typeface="Times New Roman" panose="02020603050405020304" pitchFamily="18" charset="0"/>
              </a:rPr>
            </a:br>
            <a:r>
              <a:rPr lang="en-IN" dirty="0" smtClean="0">
                <a:latin typeface="Calibri" panose="020F0502020204030204" pitchFamily="34" charset="0"/>
                <a:ea typeface="Calibri" panose="020F0502020204030204" pitchFamily="34" charset="0"/>
                <a:cs typeface="Times New Roman" panose="02020603050405020304" pitchFamily="18" charset="0"/>
              </a:rPr>
              <a:t>The </a:t>
            </a:r>
            <a:r>
              <a:rPr lang="en-IN" dirty="0">
                <a:latin typeface="Calibri" panose="020F0502020204030204" pitchFamily="34" charset="0"/>
                <a:ea typeface="Calibri" panose="020F0502020204030204" pitchFamily="34" charset="0"/>
                <a:cs typeface="Times New Roman" panose="02020603050405020304" pitchFamily="18" charset="0"/>
              </a:rPr>
              <a:t>dataset description is about the data fields which are used for the project such as candidate name, candidate party, state, Total number of votes, winning margin, state, constituency, male and female percentage of voters, election year etc.</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2854" y="2175715"/>
            <a:ext cx="10928838" cy="4471270"/>
          </a:xfrm>
          <a:prstGeom prst="rect">
            <a:avLst/>
          </a:prstGeom>
        </p:spPr>
      </p:pic>
    </p:spTree>
    <p:extLst>
      <p:ext uri="{BB962C8B-B14F-4D97-AF65-F5344CB8AC3E}">
        <p14:creationId xmlns:p14="http://schemas.microsoft.com/office/powerpoint/2010/main" val="193759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Task 1 </a:t>
            </a:r>
            <a:r>
              <a:rPr lang="en-US" dirty="0" smtClean="0"/>
              <a:t>: </a:t>
            </a:r>
            <a:r>
              <a:rPr lang="en-IN" b="1" dirty="0"/>
              <a:t>Data Integrations and Modelling:</a:t>
            </a:r>
            <a:r>
              <a:rPr lang="en-IN" dirty="0"/>
              <a:t> </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12625" y="2557463"/>
            <a:ext cx="6919398" cy="3605945"/>
          </a:xfrm>
        </p:spPr>
      </p:pic>
    </p:spTree>
    <p:extLst>
      <p:ext uri="{BB962C8B-B14F-4D97-AF65-F5344CB8AC3E}">
        <p14:creationId xmlns:p14="http://schemas.microsoft.com/office/powerpoint/2010/main" val="2314757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7685" y="589085"/>
            <a:ext cx="10717823" cy="5355312"/>
          </a:xfrm>
          <a:prstGeom prst="rect">
            <a:avLst/>
          </a:prstGeom>
        </p:spPr>
        <p:txBody>
          <a:bodyPr wrap="square">
            <a:spAutoFit/>
          </a:bodyPr>
          <a:lstStyle/>
          <a:p>
            <a:r>
              <a:rPr lang="en-US" dirty="0"/>
              <a:t>1. Top Bar Chart: Sum of Assembly Seats by Districts</a:t>
            </a:r>
          </a:p>
          <a:p>
            <a:r>
              <a:rPr lang="en-US" dirty="0"/>
              <a:t>This chart visualizes the distribution of assembly seats across different groupings of districts.</a:t>
            </a:r>
          </a:p>
          <a:p>
            <a:endParaRPr lang="en-US" dirty="0"/>
          </a:p>
          <a:p>
            <a:r>
              <a:rPr lang="en-US" dirty="0"/>
              <a:t>X-Axis: Districts (represented by numerical identifiers/counts per state).</a:t>
            </a:r>
          </a:p>
          <a:p>
            <a:endParaRPr lang="en-US" dirty="0"/>
          </a:p>
          <a:p>
            <a:r>
              <a:rPr lang="en-US" dirty="0"/>
              <a:t>Y-Axis: Sum of </a:t>
            </a:r>
            <a:r>
              <a:rPr lang="en-US" dirty="0" err="1"/>
              <a:t>assembly_seats</a:t>
            </a:r>
            <a:r>
              <a:rPr lang="en-US" dirty="0"/>
              <a:t>.</a:t>
            </a:r>
          </a:p>
          <a:p>
            <a:endParaRPr lang="en-US" dirty="0"/>
          </a:p>
          <a:p>
            <a:r>
              <a:rPr lang="en-US" dirty="0"/>
              <a:t>Key Observations:</a:t>
            </a:r>
          </a:p>
          <a:p>
            <a:r>
              <a:rPr lang="en-US" dirty="0" smtClean="0"/>
              <a:t>The </a:t>
            </a:r>
            <a:r>
              <a:rPr lang="en-US" dirty="0"/>
              <a:t>chart shows a steady decline, with district groups 1 and 3 showing negligible seat counts</a:t>
            </a:r>
            <a:r>
              <a:rPr lang="en-US" dirty="0" smtClean="0"/>
              <a:t>.</a:t>
            </a:r>
            <a:br>
              <a:rPr lang="en-US" dirty="0" smtClean="0"/>
            </a:br>
            <a:endParaRPr lang="en-US" dirty="0"/>
          </a:p>
          <a:p>
            <a:r>
              <a:rPr lang="en-US" dirty="0" smtClean="0"/>
              <a:t>2</a:t>
            </a:r>
            <a:r>
              <a:rPr lang="en-US" dirty="0"/>
              <a:t>. Bottom-Left Donut Chart: Population Distribution by State Code</a:t>
            </a:r>
          </a:p>
          <a:p>
            <a:r>
              <a:rPr lang="en-US" dirty="0"/>
              <a:t>This chart visualizes the Sum of population and Count of </a:t>
            </a:r>
            <a:r>
              <a:rPr lang="en-US" dirty="0" err="1"/>
              <a:t>state_status</a:t>
            </a:r>
            <a:r>
              <a:rPr lang="en-US" dirty="0"/>
              <a:t> categorized by </a:t>
            </a:r>
            <a:r>
              <a:rPr lang="en-US" dirty="0" err="1"/>
              <a:t>state_code</a:t>
            </a:r>
            <a:r>
              <a:rPr lang="en-US" dirty="0"/>
              <a:t>.</a:t>
            </a:r>
          </a:p>
          <a:p>
            <a:endParaRPr lang="en-US" dirty="0"/>
          </a:p>
          <a:p>
            <a:r>
              <a:rPr lang="en-US" dirty="0"/>
              <a:t>Metric: Total Population (represented in Millions/M) and Percentage of Total.</a:t>
            </a:r>
          </a:p>
          <a:p>
            <a:endParaRPr lang="en-US" dirty="0" smtClean="0"/>
          </a:p>
          <a:p>
            <a:r>
              <a:rPr lang="en-US" dirty="0" smtClean="0"/>
              <a:t>73M (6%): and 72M (5.96%): Mid-sized population states.</a:t>
            </a:r>
          </a:p>
          <a:p>
            <a:endParaRPr lang="en-US" dirty="0"/>
          </a:p>
          <a:p>
            <a:r>
              <a:rPr lang="en-US" dirty="0"/>
              <a:t>3. Right-Side Data List: State-Wise Summary</a:t>
            </a:r>
          </a:p>
          <a:p>
            <a:r>
              <a:rPr lang="en-US" dirty="0"/>
              <a:t>This section provides a tabular/list view of specific metrics per state.</a:t>
            </a:r>
          </a:p>
        </p:txBody>
      </p:sp>
    </p:spTree>
    <p:extLst>
      <p:ext uri="{BB962C8B-B14F-4D97-AF65-F5344CB8AC3E}">
        <p14:creationId xmlns:p14="http://schemas.microsoft.com/office/powerpoint/2010/main" val="4075708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Task 2: </a:t>
            </a:r>
            <a:r>
              <a:rPr lang="en-IN" b="1" dirty="0"/>
              <a:t>Historical Trends</a:t>
            </a:r>
            <a:r>
              <a:rPr lang="en-US" dirty="0"/>
              <a:t/>
            </a:r>
            <a:br>
              <a:rPr lang="en-US" dirty="0"/>
            </a:b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8709" y="2557463"/>
            <a:ext cx="6497514" cy="3317875"/>
          </a:xfrm>
        </p:spPr>
      </p:pic>
    </p:spTree>
    <p:extLst>
      <p:ext uri="{BB962C8B-B14F-4D97-AF65-F5344CB8AC3E}">
        <p14:creationId xmlns:p14="http://schemas.microsoft.com/office/powerpoint/2010/main" val="90571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2515" y="606669"/>
            <a:ext cx="10673862" cy="5632311"/>
          </a:xfrm>
          <a:prstGeom prst="rect">
            <a:avLst/>
          </a:prstGeom>
        </p:spPr>
        <p:txBody>
          <a:bodyPr wrap="square">
            <a:spAutoFit/>
          </a:bodyPr>
          <a:lstStyle/>
          <a:p>
            <a:r>
              <a:rPr lang="en-US" dirty="0"/>
              <a:t>Here is a breakdown of the specific cards used across your Power BI reports:</a:t>
            </a:r>
          </a:p>
          <a:p>
            <a:endParaRPr lang="en-US" dirty="0"/>
          </a:p>
          <a:p>
            <a:r>
              <a:rPr lang="en-US" dirty="0"/>
              <a:t>1. KPI (Key Performance Indicator) Cards</a:t>
            </a:r>
          </a:p>
          <a:p>
            <a:r>
              <a:rPr lang="en-US" dirty="0"/>
              <a:t>These large, single-value callouts anchor your dashboards by highlighting the most significant electoral totals.</a:t>
            </a:r>
          </a:p>
          <a:p>
            <a:endParaRPr lang="en-US" dirty="0"/>
          </a:p>
          <a:p>
            <a:r>
              <a:rPr lang="en-US" dirty="0"/>
              <a:t>Total Votes Polled: A primary card showing a massive 645M total votes.</a:t>
            </a:r>
          </a:p>
          <a:p>
            <a:endParaRPr lang="en-US" dirty="0"/>
          </a:p>
          <a:p>
            <a:r>
              <a:rPr lang="en-US" dirty="0"/>
              <a:t>Total Electors: Displays a high-level count of 55bn electors.</a:t>
            </a:r>
          </a:p>
          <a:p>
            <a:endParaRPr lang="en-US" dirty="0"/>
          </a:p>
          <a:p>
            <a:r>
              <a:rPr lang="en-US" dirty="0"/>
              <a:t>2. Focus &amp; Identity Cards</a:t>
            </a:r>
          </a:p>
          <a:p>
            <a:r>
              <a:rPr lang="en-US" dirty="0"/>
              <a:t>These cards are used to dynamically display text-based information, such as specific candidate or party names, based on dashboard filters</a:t>
            </a:r>
            <a:r>
              <a:rPr lang="en-US" dirty="0" smtClean="0"/>
              <a:t>.</a:t>
            </a:r>
            <a:br>
              <a:rPr lang="en-US" dirty="0" smtClean="0"/>
            </a:br>
            <a:endParaRPr lang="en-US" dirty="0"/>
          </a:p>
          <a:p>
            <a:r>
              <a:rPr lang="en-US" dirty="0" smtClean="0"/>
              <a:t>3</a:t>
            </a:r>
            <a:r>
              <a:rPr lang="en-US" dirty="0"/>
              <a:t>. Multi-Row &amp; List Cards</a:t>
            </a:r>
          </a:p>
          <a:p>
            <a:r>
              <a:rPr lang="en-US" dirty="0"/>
              <a:t>These cards group multiple related data points into a structured list, often used in sidebars for regional deep-dives.</a:t>
            </a:r>
          </a:p>
          <a:p>
            <a:endParaRPr lang="en-US" dirty="0"/>
          </a:p>
          <a:p>
            <a:r>
              <a:rPr lang="en-US" dirty="0"/>
              <a:t>Regional Summary List: Lists state-wise vote counts, such as:</a:t>
            </a:r>
          </a:p>
          <a:p>
            <a:endParaRPr lang="en-US" dirty="0"/>
          </a:p>
          <a:p>
            <a:r>
              <a:rPr lang="en-US" dirty="0"/>
              <a:t>Detailed Performance List: Combines State Name, Party, and Winning Margin (e.g., Assam, INC, 0.68) into a single vertical layout for easy comparison.</a:t>
            </a:r>
          </a:p>
        </p:txBody>
      </p:sp>
    </p:spTree>
    <p:extLst>
      <p:ext uri="{BB962C8B-B14F-4D97-AF65-F5344CB8AC3E}">
        <p14:creationId xmlns:p14="http://schemas.microsoft.com/office/powerpoint/2010/main" val="2843673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3</a:t>
            </a:r>
            <a:r>
              <a:rPr lang="en-US" dirty="0" smtClean="0"/>
              <a:t>: </a:t>
            </a:r>
            <a:r>
              <a:rPr lang="en-IN" b="1" dirty="0" err="1"/>
              <a:t>Realtime</a:t>
            </a:r>
            <a:r>
              <a:rPr lang="en-IN" b="1" dirty="0"/>
              <a:t> Results</a:t>
            </a:r>
            <a:r>
              <a:rPr lang="en-US" dirty="0" smtClean="0"/>
              <a:t>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5057" y="2557463"/>
            <a:ext cx="6611312" cy="3438891"/>
          </a:xfrm>
        </p:spPr>
      </p:pic>
    </p:spTree>
    <p:extLst>
      <p:ext uri="{BB962C8B-B14F-4D97-AF65-F5344CB8AC3E}">
        <p14:creationId xmlns:p14="http://schemas.microsoft.com/office/powerpoint/2010/main" val="2664091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08893" y="720969"/>
            <a:ext cx="10656277" cy="5355312"/>
          </a:xfrm>
          <a:prstGeom prst="rect">
            <a:avLst/>
          </a:prstGeom>
        </p:spPr>
        <p:txBody>
          <a:bodyPr wrap="square">
            <a:spAutoFit/>
          </a:bodyPr>
          <a:lstStyle/>
          <a:p>
            <a:r>
              <a:rPr lang="en-US" dirty="0"/>
              <a:t>The specific cards and visual metrics identified in your dashboard include:</a:t>
            </a:r>
          </a:p>
          <a:p>
            <a:endParaRPr lang="en-US" dirty="0"/>
          </a:p>
          <a:p>
            <a:r>
              <a:rPr lang="en-US" dirty="0"/>
              <a:t>1. KPI (Key Performance Indicator) Cards</a:t>
            </a:r>
          </a:p>
          <a:p>
            <a:endParaRPr lang="en-US" dirty="0"/>
          </a:p>
          <a:p>
            <a:r>
              <a:rPr lang="en-US" dirty="0"/>
              <a:t>These large, single-value callouts are used to anchor the dashboard with the most significant data </a:t>
            </a:r>
            <a:r>
              <a:rPr lang="en-US" dirty="0" err="1"/>
              <a:t>points.Total</a:t>
            </a:r>
            <a:r>
              <a:rPr lang="en-US" dirty="0"/>
              <a:t> Votes Polled: </a:t>
            </a:r>
          </a:p>
          <a:p>
            <a:r>
              <a:rPr lang="en-US" dirty="0"/>
              <a:t>Focus Card: A specialized card used to highlight a single individual, such as "PRAKASH ALIAS BANTY" </a:t>
            </a:r>
            <a:r>
              <a:rPr lang="en-US" dirty="0" err="1"/>
              <a:t>PARTETI.Quick</a:t>
            </a:r>
            <a:r>
              <a:rPr lang="en-US" dirty="0"/>
              <a:t> Count Cards: Small cards showing specific totals like 329 for the Count of Candidate by Constituency ID or 245 for the Sum of </a:t>
            </a:r>
            <a:r>
              <a:rPr lang="en-US" dirty="0" err="1"/>
              <a:t>ac_no</a:t>
            </a:r>
            <a:r>
              <a:rPr lang="en-US" dirty="0"/>
              <a:t> by </a:t>
            </a:r>
            <a:r>
              <a:rPr lang="en-US" dirty="0" err="1"/>
              <a:t>ac_name</a:t>
            </a:r>
            <a:endParaRPr lang="en-US" dirty="0"/>
          </a:p>
          <a:p>
            <a:endParaRPr lang="en-US" dirty="0"/>
          </a:p>
          <a:p>
            <a:r>
              <a:rPr lang="en-US" dirty="0"/>
              <a:t>.2. Multi-Row or List </a:t>
            </a:r>
            <a:r>
              <a:rPr lang="en-US" dirty="0" err="1"/>
              <a:t>CardsThe</a:t>
            </a:r>
            <a:r>
              <a:rPr lang="en-US" dirty="0"/>
              <a:t> sidebar on the left side of your main dashboard functions as a list-style card </a:t>
            </a:r>
            <a:r>
              <a:rPr lang="en-US" dirty="0" err="1"/>
              <a:t>system.Regional</a:t>
            </a:r>
            <a:r>
              <a:rPr lang="en-US" dirty="0"/>
              <a:t> Summary Cards: These cards display a combination of text and numbers for specific regions to provide granular details without cluttering the main visual area</a:t>
            </a:r>
          </a:p>
          <a:p>
            <a:endParaRPr lang="en-US" dirty="0"/>
          </a:p>
          <a:p>
            <a:r>
              <a:rPr lang="en-US" dirty="0"/>
              <a:t>3. Comparative Summary Cards (Grid View)In the State-Wise Summary table, which functions like a grid of cards, several key measures are modeled together for direct comparison:</a:t>
            </a:r>
          </a:p>
          <a:p>
            <a:endParaRPr lang="en-US" dirty="0"/>
          </a:p>
          <a:p>
            <a:r>
              <a:rPr lang="en-US" dirty="0" smtClean="0"/>
              <a:t>4</a:t>
            </a:r>
            <a:r>
              <a:rPr lang="en-US" dirty="0"/>
              <a:t>. Donut Chart Legends (Category Cards)While part of the donut chart visuals, the legends act as category cards that represent critical </a:t>
            </a:r>
            <a:r>
              <a:rPr lang="en-US" dirty="0" err="1"/>
              <a:t>distributions:Population</a:t>
            </a:r>
            <a:r>
              <a:rPr lang="en-US" dirty="0"/>
              <a:t> </a:t>
            </a:r>
          </a:p>
        </p:txBody>
      </p:sp>
    </p:spTree>
    <p:extLst>
      <p:ext uri="{BB962C8B-B14F-4D97-AF65-F5344CB8AC3E}">
        <p14:creationId xmlns:p14="http://schemas.microsoft.com/office/powerpoint/2010/main" val="292848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Task </a:t>
            </a:r>
            <a:r>
              <a:rPr lang="en-US" dirty="0" smtClean="0"/>
              <a:t>4: </a:t>
            </a:r>
            <a:r>
              <a:rPr lang="en-IN" b="1" dirty="0" smtClean="0"/>
              <a:t>Turnout </a:t>
            </a:r>
            <a:r>
              <a:rPr lang="en-IN" b="1" dirty="0"/>
              <a:t>and demographic analysis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50830" y="2557463"/>
            <a:ext cx="7069015" cy="3500437"/>
          </a:xfrm>
        </p:spPr>
      </p:pic>
    </p:spTree>
    <p:extLst>
      <p:ext uri="{BB962C8B-B14F-4D97-AF65-F5344CB8AC3E}">
        <p14:creationId xmlns:p14="http://schemas.microsoft.com/office/powerpoint/2010/main" val="177052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6284" y="641838"/>
            <a:ext cx="10374923" cy="5632311"/>
          </a:xfrm>
          <a:prstGeom prst="rect">
            <a:avLst/>
          </a:prstGeom>
        </p:spPr>
        <p:txBody>
          <a:bodyPr wrap="square">
            <a:spAutoFit/>
          </a:bodyPr>
          <a:lstStyle/>
          <a:p>
            <a:r>
              <a:rPr lang="en-US" dirty="0"/>
              <a:t>1. Single Value (KPI) Cards</a:t>
            </a:r>
          </a:p>
          <a:p>
            <a:r>
              <a:rPr lang="en-US" dirty="0"/>
              <a:t>These cards are used to anchor the dashboard with essential, large-scale figures.</a:t>
            </a:r>
          </a:p>
          <a:p>
            <a:endParaRPr lang="en-US" dirty="0"/>
          </a:p>
          <a:p>
            <a:r>
              <a:rPr lang="en-US" dirty="0"/>
              <a:t>Total Votes Polled: Displays a central metric of 645M total votes.</a:t>
            </a:r>
          </a:p>
          <a:p>
            <a:endParaRPr lang="en-US" dirty="0"/>
          </a:p>
          <a:p>
            <a:r>
              <a:rPr lang="en-US" dirty="0"/>
              <a:t>Total Electors: Shows a high-level count of 55bn electors.</a:t>
            </a:r>
          </a:p>
          <a:p>
            <a:endParaRPr lang="en-US" dirty="0"/>
          </a:p>
          <a:p>
            <a:r>
              <a:rPr lang="en-US" dirty="0"/>
              <a:t>Constituency/AC Metrics: Smaller KPI cards show specific counts such as 245 for Sum of </a:t>
            </a:r>
            <a:r>
              <a:rPr lang="en-US" dirty="0" err="1"/>
              <a:t>ac_no</a:t>
            </a:r>
            <a:r>
              <a:rPr lang="en-US" dirty="0"/>
              <a:t> by </a:t>
            </a:r>
            <a:r>
              <a:rPr lang="en-US" dirty="0" err="1"/>
              <a:t>ac_name</a:t>
            </a:r>
            <a:r>
              <a:rPr lang="en-US" dirty="0"/>
              <a:t>.</a:t>
            </a:r>
          </a:p>
          <a:p>
            <a:endParaRPr lang="en-US" dirty="0"/>
          </a:p>
          <a:p>
            <a:r>
              <a:rPr lang="en-US" dirty="0"/>
              <a:t>Specific Candidate/State Data: Cards are used to highlight individual candidates like "PRAKASH ALIAS BANTY" PARTETI or winning margins such as 240.52 for specific parties.</a:t>
            </a:r>
          </a:p>
          <a:p>
            <a:endParaRPr lang="en-US" dirty="0"/>
          </a:p>
          <a:p>
            <a:r>
              <a:rPr lang="en-US" dirty="0"/>
              <a:t>2. Multi-Row Cards</a:t>
            </a:r>
          </a:p>
          <a:p>
            <a:r>
              <a:rPr lang="en-US" dirty="0"/>
              <a:t>These cards group related data points together, providing a structured list view for granular regional details.</a:t>
            </a:r>
          </a:p>
          <a:p>
            <a:endParaRPr lang="en-US" dirty="0"/>
          </a:p>
          <a:p>
            <a:r>
              <a:rPr lang="en-US" dirty="0"/>
              <a:t>State-Wise Summaries: Used in sidebars to list multiple metrics for states/UTs, such as:</a:t>
            </a:r>
          </a:p>
          <a:p>
            <a:endParaRPr lang="en-US" dirty="0"/>
          </a:p>
          <a:p>
            <a:r>
              <a:rPr lang="en-US" dirty="0"/>
              <a:t>Andaman &amp; Nicobar Islands: 202,514 votes.</a:t>
            </a:r>
          </a:p>
          <a:p>
            <a:endParaRPr lang="en-US" dirty="0"/>
          </a:p>
          <a:p>
            <a:r>
              <a:rPr lang="en-US" dirty="0"/>
              <a:t>Andhra Pradesh: 33,729,342 votes</a:t>
            </a:r>
            <a:r>
              <a:rPr lang="en-US" dirty="0" smtClean="0"/>
              <a:t>.</a:t>
            </a:r>
            <a:endParaRPr lang="en-US" dirty="0"/>
          </a:p>
        </p:txBody>
      </p:sp>
    </p:spTree>
    <p:extLst>
      <p:ext uri="{BB962C8B-B14F-4D97-AF65-F5344CB8AC3E}">
        <p14:creationId xmlns:p14="http://schemas.microsoft.com/office/powerpoint/2010/main" val="682257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Task 5</a:t>
            </a:r>
            <a:r>
              <a:rPr lang="en-US" dirty="0" smtClean="0"/>
              <a:t>: </a:t>
            </a:r>
            <a:r>
              <a:rPr lang="en-IN" b="1" dirty="0"/>
              <a:t>Party and candidate performance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11273" y="2557463"/>
            <a:ext cx="6695435" cy="3597152"/>
          </a:xfrm>
        </p:spPr>
      </p:pic>
    </p:spTree>
    <p:extLst>
      <p:ext uri="{BB962C8B-B14F-4D97-AF65-F5344CB8AC3E}">
        <p14:creationId xmlns:p14="http://schemas.microsoft.com/office/powerpoint/2010/main" val="2816473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50976" y="667512"/>
            <a:ext cx="10241280" cy="5632311"/>
          </a:xfrm>
          <a:prstGeom prst="rect">
            <a:avLst/>
          </a:prstGeom>
        </p:spPr>
        <p:txBody>
          <a:bodyPr wrap="square">
            <a:spAutoFit/>
          </a:bodyPr>
          <a:lstStyle/>
          <a:p>
            <a:r>
              <a:rPr lang="en-US" dirty="0"/>
              <a:t>1. KPI (Key Performance Indicator) Cards</a:t>
            </a:r>
          </a:p>
          <a:p>
            <a:r>
              <a:rPr lang="en-US" dirty="0"/>
              <a:t>These large, single-value callouts anchor your dashboards by highlighting the most significant electoral totals.</a:t>
            </a:r>
          </a:p>
          <a:p>
            <a:endParaRPr lang="en-US" dirty="0"/>
          </a:p>
          <a:p>
            <a:r>
              <a:rPr lang="en-US" dirty="0"/>
              <a:t>Total Votes Polled: A primary card showing a massive 645M total votes.</a:t>
            </a:r>
          </a:p>
          <a:p>
            <a:endParaRPr lang="en-US" dirty="0"/>
          </a:p>
          <a:p>
            <a:r>
              <a:rPr lang="en-US" dirty="0"/>
              <a:t>Total Electors: Displays a high-level count of 55bn electors.</a:t>
            </a:r>
          </a:p>
          <a:p>
            <a:endParaRPr lang="en-US" dirty="0"/>
          </a:p>
          <a:p>
            <a:r>
              <a:rPr lang="en-US" dirty="0"/>
              <a:t>Sum of AC Numbers: Shows a specific total of 245 for Sum of </a:t>
            </a:r>
            <a:r>
              <a:rPr lang="en-US" dirty="0" err="1"/>
              <a:t>ac_no</a:t>
            </a:r>
            <a:r>
              <a:rPr lang="en-US" dirty="0"/>
              <a:t> by </a:t>
            </a:r>
            <a:r>
              <a:rPr lang="en-US" dirty="0" err="1"/>
              <a:t>ac_name</a:t>
            </a:r>
            <a:r>
              <a:rPr lang="en-US" dirty="0"/>
              <a:t>.</a:t>
            </a:r>
          </a:p>
          <a:p>
            <a:endParaRPr lang="en-US" dirty="0"/>
          </a:p>
          <a:p>
            <a:r>
              <a:rPr lang="en-US" dirty="0"/>
              <a:t>Total Electors by Candidate Votes: A specialized card showing 2,570,306 for focused candidate analysis.</a:t>
            </a:r>
          </a:p>
          <a:p>
            <a:endParaRPr lang="en-US" dirty="0"/>
          </a:p>
          <a:p>
            <a:r>
              <a:rPr lang="en-US" dirty="0"/>
              <a:t>Winning Margin %: Displays an aggregated percentage, such as 9.39K or 240.52, to highlight party performance.</a:t>
            </a:r>
          </a:p>
          <a:p>
            <a:endParaRPr lang="en-US" dirty="0"/>
          </a:p>
          <a:p>
            <a:r>
              <a:rPr lang="en-US" dirty="0"/>
              <a:t>2. Focus &amp; Identity Cards</a:t>
            </a:r>
          </a:p>
          <a:p>
            <a:r>
              <a:rPr lang="en-US" dirty="0"/>
              <a:t>These cards are used to dynamically display text-based information, such as specific candidate or party names, based on dashboard filters.</a:t>
            </a:r>
          </a:p>
          <a:p>
            <a:endParaRPr lang="en-US" dirty="0"/>
          </a:p>
          <a:p>
            <a:r>
              <a:rPr lang="en-US" dirty="0"/>
              <a:t>Candidate Name Card: Highlights individual candidates like "PRAKASH ALIAS BANTY" PARTETI or A NARAYANASWAMY.</a:t>
            </a:r>
          </a:p>
          <a:p>
            <a:endParaRPr lang="en-US" dirty="0"/>
          </a:p>
        </p:txBody>
      </p:sp>
    </p:spTree>
    <p:extLst>
      <p:ext uri="{BB962C8B-B14F-4D97-AF65-F5344CB8AC3E}">
        <p14:creationId xmlns:p14="http://schemas.microsoft.com/office/powerpoint/2010/main" val="7016457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7008" y="650631"/>
            <a:ext cx="10656277" cy="5632311"/>
          </a:xfrm>
          <a:prstGeom prst="rect">
            <a:avLst/>
          </a:prstGeom>
        </p:spPr>
        <p:txBody>
          <a:bodyPr wrap="square">
            <a:spAutoFit/>
          </a:bodyPr>
          <a:lstStyle/>
          <a:p>
            <a:r>
              <a:rPr lang="en-US" dirty="0"/>
              <a:t>Party Name Card: Identifies a specific political group, such as AAP or ASP.</a:t>
            </a:r>
          </a:p>
          <a:p>
            <a:endParaRPr lang="en-US" dirty="0"/>
          </a:p>
          <a:p>
            <a:r>
              <a:rPr lang="en-US" dirty="0"/>
              <a:t>3. Multi-Row &amp; List Cards</a:t>
            </a:r>
          </a:p>
          <a:p>
            <a:r>
              <a:rPr lang="en-US" dirty="0"/>
              <a:t>These cards group multiple related data points into a structured list, often used in sidebars for regional deep-dives.</a:t>
            </a:r>
          </a:p>
          <a:p>
            <a:endParaRPr lang="en-US" dirty="0"/>
          </a:p>
          <a:p>
            <a:r>
              <a:rPr lang="en-US" dirty="0"/>
              <a:t>Regional Summary List: Lists state-wise vote counts, such as:</a:t>
            </a:r>
          </a:p>
          <a:p>
            <a:endParaRPr lang="en-US" dirty="0"/>
          </a:p>
          <a:p>
            <a:r>
              <a:rPr lang="en-US" dirty="0"/>
              <a:t>Andaman &amp; Nicobar Islands: 202,514.</a:t>
            </a:r>
          </a:p>
          <a:p>
            <a:endParaRPr lang="en-US" dirty="0"/>
          </a:p>
          <a:p>
            <a:r>
              <a:rPr lang="en-US" dirty="0"/>
              <a:t>Andhra Pradesh: 33,729,342.</a:t>
            </a:r>
          </a:p>
          <a:p>
            <a:endParaRPr lang="en-US" dirty="0"/>
          </a:p>
          <a:p>
            <a:r>
              <a:rPr lang="en-US" dirty="0"/>
              <a:t>Arunachal Pradesh: 723,247.</a:t>
            </a:r>
          </a:p>
          <a:p>
            <a:endParaRPr lang="en-US" dirty="0"/>
          </a:p>
          <a:p>
            <a:r>
              <a:rPr lang="en-US" dirty="0"/>
              <a:t>Detailed Performance List: Combines State Name, Party, and Winning Margin (e.g., Assam, INC, 0.68) into a single vertical layout for easy comparison.</a:t>
            </a:r>
          </a:p>
          <a:p>
            <a:endParaRPr lang="en-US" dirty="0"/>
          </a:p>
          <a:p>
            <a:r>
              <a:rPr lang="en-US" dirty="0"/>
              <a:t>Technical Implementation</a:t>
            </a:r>
          </a:p>
          <a:p>
            <a:r>
              <a:rPr lang="en-US" dirty="0"/>
              <a:t>These visuals are powered by the Data Integration and Modeling performed in Task-1:</a:t>
            </a:r>
          </a:p>
          <a:p>
            <a:endParaRPr lang="en-US" dirty="0"/>
          </a:p>
          <a:p>
            <a:r>
              <a:rPr lang="en-US" dirty="0"/>
              <a:t>Calculations: The values are derived from SUM and COUNT aggregations on cleaned fields like </a:t>
            </a:r>
            <a:r>
              <a:rPr lang="en-US" dirty="0" err="1"/>
              <a:t>totvotpoll</a:t>
            </a:r>
            <a:r>
              <a:rPr lang="en-US" dirty="0"/>
              <a:t> (</a:t>
            </a:r>
            <a:r>
              <a:rPr lang="en-US" dirty="0" smtClean="0"/>
              <a:t>total</a:t>
            </a:r>
            <a:endParaRPr lang="en-US" dirty="0"/>
          </a:p>
        </p:txBody>
      </p:sp>
    </p:spTree>
    <p:extLst>
      <p:ext uri="{BB962C8B-B14F-4D97-AF65-F5344CB8AC3E}">
        <p14:creationId xmlns:p14="http://schemas.microsoft.com/office/powerpoint/2010/main" val="324431276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136</TotalTime>
  <Words>873</Words>
  <Application>Microsoft Office PowerPoint</Application>
  <PresentationFormat>Widescreen</PresentationFormat>
  <Paragraphs>123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Garamond</vt:lpstr>
      <vt:lpstr>Times New Roman</vt:lpstr>
      <vt:lpstr>Organic</vt:lpstr>
      <vt:lpstr> Election Data Visualization for Media</vt:lpstr>
      <vt:lpstr>PowerPoint Presentation</vt:lpstr>
      <vt:lpstr>PowerPoint Presentation</vt:lpstr>
      <vt:lpstr>PowerPoint Presentation</vt:lpstr>
      <vt:lpstr>PowerPoint Presentation</vt:lpstr>
      <vt:lpstr>Task 1 : Data Integrations and Modelling: </vt:lpstr>
      <vt:lpstr>PowerPoint Presentation</vt:lpstr>
      <vt:lpstr>Task 2: Historical Trends </vt:lpstr>
      <vt:lpstr>PowerPoint Presentation</vt:lpstr>
      <vt:lpstr>Task 3: Realtime Results </vt:lpstr>
      <vt:lpstr>PowerPoint Presentation</vt:lpstr>
      <vt:lpstr>Task 4: Turnout and demographic analysis</vt:lpstr>
      <vt:lpstr>PowerPoint Presentation</vt:lpstr>
      <vt:lpstr>Task 5: Party and candidate performance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Election Data Visualization for Media</dc:title>
  <dc:creator>TCZ</dc:creator>
  <cp:lastModifiedBy>TCZ</cp:lastModifiedBy>
  <cp:revision>14</cp:revision>
  <dcterms:created xsi:type="dcterms:W3CDTF">2026-03-13T15:05:18Z</dcterms:created>
  <dcterms:modified xsi:type="dcterms:W3CDTF">2026-03-25T14:58:33Z</dcterms:modified>
</cp:coreProperties>
</file>